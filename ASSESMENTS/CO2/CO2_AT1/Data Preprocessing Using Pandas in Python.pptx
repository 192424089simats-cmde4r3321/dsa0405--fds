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8" r:id="rId5"/>
    <p:sldId id="261" r:id="rId6"/>
    <p:sldId id="326" r:id="rId7"/>
    <p:sldId id="317" r:id="rId8"/>
    <p:sldId id="328" r:id="rId9"/>
    <p:sldId id="321" r:id="rId10"/>
    <p:sldId id="329" r:id="rId11"/>
    <p:sldId id="331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7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62F03-D7DC-CB6C-79F9-6EDB31BEAE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D0420-EBB5-D564-54DE-341AD5F02B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D50C4-F1A5-A448-9E63-11D939CA9B7B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F5A34-0F73-44B8-F88C-ACF0104FF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C5854-4E8A-EB36-303D-1E97CBF23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60AD6-267C-A84D-8EB9-DEB2595DCF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30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818D7-DF4E-4C59-9BBA-548250DAC33A}" type="datetimeFigureOut">
              <a:rPr lang="en-US" smtClean="0"/>
              <a:t>7/28/2026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00A82-9926-4DBA-8BA5-A22EEB8AC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8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34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382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7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24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66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25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5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7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9"/>
            <a:ext cx="10058397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297680" cy="5468112"/>
          </a:xfrm>
        </p:spPr>
        <p:txBody>
          <a:bodyPr lIns="0" tIns="0" rIns="0" bIns="0" anchor="t" anchorCtr="0">
            <a:normAutofit/>
          </a:bodyPr>
          <a:lstStyle>
            <a:lvl1pPr marL="4572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eriod"/>
              <a:defRPr sz="2400"/>
            </a:lvl1pPr>
            <a:lvl2pPr marL="9144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eriod"/>
              <a:defRPr sz="2000"/>
            </a:lvl2pPr>
            <a:lvl3pPr marL="12573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arenR"/>
              <a:defRPr sz="1800"/>
            </a:lvl3pPr>
            <a:lvl4pPr marL="17145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arenR"/>
              <a:defRPr sz="1600"/>
            </a:lvl4pPr>
            <a:lvl5pPr marL="21717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romanLcPeriod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24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67956"/>
            <a:ext cx="10058400" cy="914400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0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572000" cy="5468112"/>
          </a:xfrm>
        </p:spPr>
        <p:txBody>
          <a:bodyPr lIns="0" tIns="0" rIns="0" bIns="0" anchor="t" anchorCtr="0"/>
          <a:lstStyle>
            <a:lvl1pPr marL="0" indent="0">
              <a:lnSpc>
                <a:spcPts val="24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None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5800" y="5953968"/>
            <a:ext cx="365760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81981-ACA6-F321-B526-C400A1D9E7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D413-D12F-D4FC-0369-637417A8ACA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6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5531A5-E0BC-2493-B1DF-7FDEBBD00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856093"/>
            <a:ext cx="5791637" cy="5145815"/>
            <a:chOff x="6400363" y="856093"/>
            <a:chExt cx="5791637" cy="514581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204924-0071-7102-F00E-8494C96FA10C}"/>
                </a:ext>
              </a:extLst>
            </p:cNvPr>
            <p:cNvSpPr/>
            <p:nvPr userDrawn="1"/>
          </p:nvSpPr>
          <p:spPr>
            <a:xfrm flipH="1">
              <a:off x="6400363" y="856093"/>
              <a:ext cx="5145815" cy="514581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C3D4C6F-59E1-AAC8-F730-988C9DA079C9}"/>
                </a:ext>
              </a:extLst>
            </p:cNvPr>
            <p:cNvSpPr/>
            <p:nvPr userDrawn="1"/>
          </p:nvSpPr>
          <p:spPr>
            <a:xfrm flipH="1">
              <a:off x="10319220" y="953697"/>
              <a:ext cx="1872780" cy="4949246"/>
            </a:xfrm>
            <a:custGeom>
              <a:avLst/>
              <a:gdLst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403694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820319 w 1872780"/>
                <a:gd name="connsiteY7" fmla="*/ 335236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11" fmla="*/ 0 w 1872780"/>
                <a:gd name="connsiteY11" fmla="*/ 0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311361 h 4949246"/>
                <a:gd name="connsiteX8" fmla="*/ 526273 w 1872780"/>
                <a:gd name="connsiteY8" fmla="*/ 212931 h 4949246"/>
                <a:gd name="connsiteX9" fmla="*/ 95108 w 1872780"/>
                <a:gd name="connsiteY9" fmla="*/ 27645 h 4949246"/>
                <a:gd name="connsiteX10" fmla="*/ 0 w 1872780"/>
                <a:gd name="connsiteY10" fmla="*/ 0 h 494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2780" h="4949246">
                  <a:moveTo>
                    <a:pt x="0" y="0"/>
                  </a:moveTo>
                  <a:lnTo>
                    <a:pt x="0" y="4949246"/>
                  </a:lnTo>
                  <a:lnTo>
                    <a:pt x="64976" y="4932538"/>
                  </a:lnTo>
                  <a:cubicBezTo>
                    <a:pt x="1112326" y="4606779"/>
                    <a:pt x="1872780" y="3629848"/>
                    <a:pt x="1872780" y="2475303"/>
                  </a:cubicBezTo>
                  <a:cubicBezTo>
                    <a:pt x="1872780" y="1676003"/>
                    <a:pt x="1508302" y="961831"/>
                    <a:pt x="936480" y="489922"/>
                  </a:cubicBezTo>
                  <a:lnTo>
                    <a:pt x="816865" y="400475"/>
                  </a:lnTo>
                  <a:lnTo>
                    <a:pt x="816865" y="403694"/>
                  </a:lnTo>
                  <a:lnTo>
                    <a:pt x="688294" y="311361"/>
                  </a:lnTo>
                  <a:lnTo>
                    <a:pt x="526273" y="212931"/>
                  </a:lnTo>
                  <a:cubicBezTo>
                    <a:pt x="389561" y="138665"/>
                    <a:pt x="245366" y="76429"/>
                    <a:pt x="95108" y="2764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884E397-4075-3615-C87B-9D22754DFD4C}"/>
                </a:ext>
              </a:extLst>
            </p:cNvPr>
            <p:cNvSpPr/>
            <p:nvPr userDrawn="1"/>
          </p:nvSpPr>
          <p:spPr>
            <a:xfrm flipH="1">
              <a:off x="10319222" y="1763840"/>
              <a:ext cx="1226956" cy="3330322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3137" y="400925"/>
            <a:ext cx="8913947" cy="4061745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3140" y="4519311"/>
            <a:ext cx="8913949" cy="1657202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08CADAB-C836-336D-DC60-E20AAE3199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972878"/>
            <a:ext cx="1264455" cy="4926287"/>
          </a:xfrm>
          <a:custGeom>
            <a:avLst/>
            <a:gdLst>
              <a:gd name="connsiteX0" fmla="*/ 0 w 1264455"/>
              <a:gd name="connsiteY0" fmla="*/ 0 h 4926287"/>
              <a:gd name="connsiteX1" fmla="*/ 53564 w 1264455"/>
              <a:gd name="connsiteY1" fmla="*/ 0 h 4926287"/>
              <a:gd name="connsiteX2" fmla="*/ 184430 w 1264455"/>
              <a:gd name="connsiteY2" fmla="*/ 42338 h 4926287"/>
              <a:gd name="connsiteX3" fmla="*/ 1264455 w 1264455"/>
              <a:gd name="connsiteY3" fmla="*/ 797216 h 4926287"/>
              <a:gd name="connsiteX4" fmla="*/ 1245431 w 1264455"/>
              <a:gd name="connsiteY4" fmla="*/ 818786 h 4926287"/>
              <a:gd name="connsiteX5" fmla="*/ 646813 w 1264455"/>
              <a:gd name="connsiteY5" fmla="*/ 2455489 h 4926287"/>
              <a:gd name="connsiteX6" fmla="*/ 1245431 w 1264455"/>
              <a:gd name="connsiteY6" fmla="*/ 4092193 h 4926287"/>
              <a:gd name="connsiteX7" fmla="*/ 1264455 w 1264455"/>
              <a:gd name="connsiteY7" fmla="*/ 4113762 h 4926287"/>
              <a:gd name="connsiteX8" fmla="*/ 362544 w 1264455"/>
              <a:gd name="connsiteY8" fmla="*/ 4796931 h 4926287"/>
              <a:gd name="connsiteX9" fmla="*/ 201663 w 1264455"/>
              <a:gd name="connsiteY9" fmla="*/ 4862847 h 4926287"/>
              <a:gd name="connsiteX10" fmla="*/ 166695 w 1264455"/>
              <a:gd name="connsiteY10" fmla="*/ 4875645 h 4926287"/>
              <a:gd name="connsiteX11" fmla="*/ 49533 w 1264455"/>
              <a:gd name="connsiteY11" fmla="*/ 4913551 h 4926287"/>
              <a:gd name="connsiteX12" fmla="*/ 0 w 1264455"/>
              <a:gd name="connsiteY12" fmla="*/ 4926287 h 492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4455" h="4926287">
                <a:moveTo>
                  <a:pt x="0" y="0"/>
                </a:moveTo>
                <a:lnTo>
                  <a:pt x="53564" y="0"/>
                </a:lnTo>
                <a:lnTo>
                  <a:pt x="184430" y="42338"/>
                </a:lnTo>
                <a:cubicBezTo>
                  <a:pt x="607635" y="197310"/>
                  <a:pt x="979255" y="460836"/>
                  <a:pt x="1264455" y="797216"/>
                </a:cubicBezTo>
                <a:lnTo>
                  <a:pt x="1245431" y="818786"/>
                </a:lnTo>
                <a:cubicBezTo>
                  <a:pt x="871295" y="1264121"/>
                  <a:pt x="646813" y="1833796"/>
                  <a:pt x="646813" y="2455489"/>
                </a:cubicBezTo>
                <a:cubicBezTo>
                  <a:pt x="646813" y="3077183"/>
                  <a:pt x="871295" y="3648126"/>
                  <a:pt x="1245431" y="4092193"/>
                </a:cubicBezTo>
                <a:lnTo>
                  <a:pt x="1264455" y="4113762"/>
                </a:lnTo>
                <a:cubicBezTo>
                  <a:pt x="1019998" y="4403040"/>
                  <a:pt x="712048" y="4638079"/>
                  <a:pt x="362544" y="4796931"/>
                </a:cubicBezTo>
                <a:lnTo>
                  <a:pt x="201663" y="4862847"/>
                </a:lnTo>
                <a:lnTo>
                  <a:pt x="166695" y="4875645"/>
                </a:lnTo>
                <a:lnTo>
                  <a:pt x="49533" y="4913551"/>
                </a:lnTo>
                <a:lnTo>
                  <a:pt x="0" y="4926287"/>
                </a:lnTo>
                <a:close/>
              </a:path>
            </a:pathLst>
          </a:custGeom>
          <a:noFill/>
        </p:spPr>
        <p:txBody>
          <a:bodyPr wrap="square" lIns="0" tIns="10058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0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3931919" cy="2763442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D2F740-9D68-14D7-A2BD-C7AF3ED6587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753101" y="694944"/>
            <a:ext cx="4805362" cy="121157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800" b="1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3" y="3607903"/>
            <a:ext cx="3931920" cy="25721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ts val="2400"/>
              </a:lnSpc>
              <a:buNone/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2157413"/>
            <a:ext cx="5753098" cy="4005643"/>
          </a:xfrm>
        </p:spPr>
        <p:txBody>
          <a:bodyPr lIns="0" tIns="0" rIns="0" bIns="0" anchor="t" anchorCtr="0"/>
          <a:lstStyle>
            <a:lvl1pPr marL="0" indent="0">
              <a:lnSpc>
                <a:spcPts val="3000"/>
              </a:lnSpc>
              <a:spcBef>
                <a:spcPts val="2800"/>
              </a:spcBef>
              <a:buNone/>
              <a:defRPr/>
            </a:lvl1pPr>
            <a:lvl2pPr marL="7429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300139-9769-561C-12A0-4A466D0741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BEE22E-6B38-F772-940C-BDD74D402C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5880629" cy="1690444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4" y="2476239"/>
            <a:ext cx="5880629" cy="32379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12D1E-D950-DF90-FC1D-F9BFC8962A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18338" y="0"/>
            <a:ext cx="5173662" cy="6858000"/>
          </a:xfrm>
          <a:custGeom>
            <a:avLst/>
            <a:gdLst>
              <a:gd name="connsiteX0" fmla="*/ 3805872 w 5173662"/>
              <a:gd name="connsiteY0" fmla="*/ 690240 h 6858000"/>
              <a:gd name="connsiteX1" fmla="*/ 3805872 w 5173662"/>
              <a:gd name="connsiteY1" fmla="*/ 818256 h 6858000"/>
              <a:gd name="connsiteX2" fmla="*/ 4262100 w 5173662"/>
              <a:gd name="connsiteY2" fmla="*/ 818256 h 6858000"/>
              <a:gd name="connsiteX3" fmla="*/ 3729696 w 5173662"/>
              <a:gd name="connsiteY3" fmla="*/ 1350660 h 6858000"/>
              <a:gd name="connsiteX4" fmla="*/ 3820217 w 5173662"/>
              <a:gd name="connsiteY4" fmla="*/ 1441181 h 6858000"/>
              <a:gd name="connsiteX5" fmla="*/ 4360085 w 5173662"/>
              <a:gd name="connsiteY5" fmla="*/ 901313 h 6858000"/>
              <a:gd name="connsiteX6" fmla="*/ 4360085 w 5173662"/>
              <a:gd name="connsiteY6" fmla="*/ 1365882 h 6858000"/>
              <a:gd name="connsiteX7" fmla="*/ 4488101 w 5173662"/>
              <a:gd name="connsiteY7" fmla="*/ 1365882 h 6858000"/>
              <a:gd name="connsiteX8" fmla="*/ 4488101 w 5173662"/>
              <a:gd name="connsiteY8" fmla="*/ 818256 h 6858000"/>
              <a:gd name="connsiteX9" fmla="*/ 4488102 w 5173662"/>
              <a:gd name="connsiteY9" fmla="*/ 818256 h 6858000"/>
              <a:gd name="connsiteX10" fmla="*/ 4488102 w 5173662"/>
              <a:gd name="connsiteY10" fmla="*/ 690240 h 6858000"/>
              <a:gd name="connsiteX11" fmla="*/ 4488101 w 5173662"/>
              <a:gd name="connsiteY11" fmla="*/ 690240 h 6858000"/>
              <a:gd name="connsiteX12" fmla="*/ 4360085 w 5173662"/>
              <a:gd name="connsiteY12" fmla="*/ 690240 h 6858000"/>
              <a:gd name="connsiteX13" fmla="*/ 0 w 5173662"/>
              <a:gd name="connsiteY13" fmla="*/ 0 h 6858000"/>
              <a:gd name="connsiteX14" fmla="*/ 5173662 w 5173662"/>
              <a:gd name="connsiteY14" fmla="*/ 0 h 6858000"/>
              <a:gd name="connsiteX15" fmla="*/ 5173662 w 5173662"/>
              <a:gd name="connsiteY15" fmla="*/ 6858000 h 6858000"/>
              <a:gd name="connsiteX16" fmla="*/ 0 w 5173662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73662" h="6858000">
                <a:moveTo>
                  <a:pt x="3805872" y="690240"/>
                </a:moveTo>
                <a:lnTo>
                  <a:pt x="3805872" y="818256"/>
                </a:lnTo>
                <a:lnTo>
                  <a:pt x="4262100" y="818256"/>
                </a:lnTo>
                <a:lnTo>
                  <a:pt x="3729696" y="1350660"/>
                </a:lnTo>
                <a:lnTo>
                  <a:pt x="3820217" y="1441181"/>
                </a:lnTo>
                <a:lnTo>
                  <a:pt x="4360085" y="901313"/>
                </a:lnTo>
                <a:lnTo>
                  <a:pt x="4360085" y="1365882"/>
                </a:lnTo>
                <a:lnTo>
                  <a:pt x="4488101" y="1365882"/>
                </a:lnTo>
                <a:lnTo>
                  <a:pt x="4488101" y="818256"/>
                </a:lnTo>
                <a:lnTo>
                  <a:pt x="4488102" y="818256"/>
                </a:lnTo>
                <a:lnTo>
                  <a:pt x="4488102" y="690240"/>
                </a:lnTo>
                <a:lnTo>
                  <a:pt x="4488101" y="690240"/>
                </a:lnTo>
                <a:lnTo>
                  <a:pt x="4360085" y="690240"/>
                </a:lnTo>
                <a:close/>
                <a:moveTo>
                  <a:pt x="0" y="0"/>
                </a:moveTo>
                <a:lnTo>
                  <a:pt x="5173662" y="0"/>
                </a:lnTo>
                <a:lnTo>
                  <a:pt x="517366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6EFE9-69CE-71E1-5B5B-E344DFB9DF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CF949-C78F-45EC-4CDE-5D1B002F0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5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862641"/>
            <a:ext cx="4339805" cy="2566357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E1EFA6-BBF1-0CF2-B2A5-354FA444260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753101" y="3657818"/>
            <a:ext cx="4339805" cy="2734053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8106A4-B5DE-575D-F7FC-30617899BB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D562560-6E8E-BE71-34A7-27F566AA4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0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166B37-A875-10F1-3052-1F5C0DBA005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6741" y="2140864"/>
            <a:ext cx="3797114" cy="3494753"/>
          </a:xfrm>
        </p:spPr>
        <p:txBody>
          <a:bodyPr lIns="91440">
            <a:normAutofit/>
          </a:bodyPr>
          <a:lstStyle>
            <a:lvl1pPr>
              <a:spcBef>
                <a:spcPts val="2800"/>
              </a:spcBef>
              <a:defRPr sz="2400"/>
            </a:lvl1pPr>
            <a:lvl2pPr>
              <a:spcBef>
                <a:spcPts val="2800"/>
              </a:spcBef>
              <a:defRPr sz="2000"/>
            </a:lvl2pPr>
            <a:lvl3pPr>
              <a:spcBef>
                <a:spcPts val="2800"/>
              </a:spcBef>
              <a:defRPr sz="1800"/>
            </a:lvl3pPr>
            <a:lvl4pPr>
              <a:spcBef>
                <a:spcPts val="2800"/>
              </a:spcBef>
              <a:defRPr sz="1600"/>
            </a:lvl4pPr>
            <a:lvl5pPr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16CC85AA-22A1-34BB-C21E-8EEC11334A9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054600" y="2103438"/>
            <a:ext cx="6451600" cy="35321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6CDA2-E91D-329D-7637-2B7A71AB4DE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C0597-1B00-EE50-9A1B-7B2CD5D3EE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0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DB2F69B-2054-2B19-B5CA-CB02C02F900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85800" y="2103438"/>
            <a:ext cx="10820400" cy="37020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D5D5A-0193-F076-B3BC-8B80744EFDC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4FF8D-2D04-5E87-990C-B171F1B47A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4273D7-57D0-754C-B3BD-00D85865C8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23091" y="3427812"/>
            <a:ext cx="5143494" cy="3430188"/>
          </a:xfrm>
          <a:custGeom>
            <a:avLst/>
            <a:gdLst>
              <a:gd name="connsiteX0" fmla="*/ 922627 w 5143494"/>
              <a:gd name="connsiteY0" fmla="*/ 0 h 3430188"/>
              <a:gd name="connsiteX1" fmla="*/ 955285 w 5143494"/>
              <a:gd name="connsiteY1" fmla="*/ 29682 h 3430188"/>
              <a:gd name="connsiteX2" fmla="*/ 2591894 w 5143494"/>
              <a:gd name="connsiteY2" fmla="*/ 617209 h 3430188"/>
              <a:gd name="connsiteX3" fmla="*/ 4228502 w 5143494"/>
              <a:gd name="connsiteY3" fmla="*/ 29682 h 3430188"/>
              <a:gd name="connsiteX4" fmla="*/ 4240798 w 5143494"/>
              <a:gd name="connsiteY4" fmla="*/ 18506 h 3430188"/>
              <a:gd name="connsiteX5" fmla="*/ 4390247 w 5143494"/>
              <a:gd name="connsiteY5" fmla="*/ 157278 h 3430188"/>
              <a:gd name="connsiteX6" fmla="*/ 5143494 w 5143494"/>
              <a:gd name="connsiteY6" fmla="*/ 2015180 h 3430188"/>
              <a:gd name="connsiteX7" fmla="*/ 4833098 w 5143494"/>
              <a:gd name="connsiteY7" fmla="*/ 3267589 h 3430188"/>
              <a:gd name="connsiteX8" fmla="*/ 4736412 w 5143494"/>
              <a:gd name="connsiteY8" fmla="*/ 3430188 h 3430188"/>
              <a:gd name="connsiteX9" fmla="*/ 407083 w 5143494"/>
              <a:gd name="connsiteY9" fmla="*/ 3430188 h 3430188"/>
              <a:gd name="connsiteX10" fmla="*/ 310396 w 5143494"/>
              <a:gd name="connsiteY10" fmla="*/ 3267589 h 3430188"/>
              <a:gd name="connsiteX11" fmla="*/ 0 w 5143494"/>
              <a:gd name="connsiteY11" fmla="*/ 2015180 h 3430188"/>
              <a:gd name="connsiteX12" fmla="*/ 753247 w 5143494"/>
              <a:gd name="connsiteY12" fmla="*/ 157278 h 3430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3494" h="3430188">
                <a:moveTo>
                  <a:pt x="922627" y="0"/>
                </a:moveTo>
                <a:lnTo>
                  <a:pt x="955285" y="29682"/>
                </a:lnTo>
                <a:cubicBezTo>
                  <a:pt x="1400036" y="396722"/>
                  <a:pt x="1970216" y="617209"/>
                  <a:pt x="2591894" y="617209"/>
                </a:cubicBezTo>
                <a:cubicBezTo>
                  <a:pt x="3213572" y="617209"/>
                  <a:pt x="3783752" y="396722"/>
                  <a:pt x="4228502" y="29682"/>
                </a:cubicBezTo>
                <a:lnTo>
                  <a:pt x="4240798" y="18506"/>
                </a:lnTo>
                <a:lnTo>
                  <a:pt x="4390247" y="157278"/>
                </a:lnTo>
                <a:cubicBezTo>
                  <a:pt x="4855642" y="632756"/>
                  <a:pt x="5143494" y="1289624"/>
                  <a:pt x="5143494" y="2015180"/>
                </a:cubicBezTo>
                <a:cubicBezTo>
                  <a:pt x="5143494" y="2468653"/>
                  <a:pt x="5031052" y="2895294"/>
                  <a:pt x="4833098" y="3267589"/>
                </a:cubicBezTo>
                <a:lnTo>
                  <a:pt x="4736412" y="3430188"/>
                </a:lnTo>
                <a:lnTo>
                  <a:pt x="407083" y="3430188"/>
                </a:lnTo>
                <a:lnTo>
                  <a:pt x="310396" y="3267589"/>
                </a:lnTo>
                <a:cubicBezTo>
                  <a:pt x="112443" y="2895294"/>
                  <a:pt x="0" y="2468653"/>
                  <a:pt x="0" y="2015180"/>
                </a:cubicBezTo>
                <a:cubicBezTo>
                  <a:pt x="0" y="1289624"/>
                  <a:pt x="287853" y="632756"/>
                  <a:pt x="753247" y="157278"/>
                </a:cubicBezTo>
                <a:close/>
              </a:path>
            </a:pathLst>
          </a:custGeom>
          <a:noFill/>
        </p:spPr>
        <p:txBody>
          <a:bodyPr wrap="square" tIns="9144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326644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4867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6">
            <a:extLst>
              <a:ext uri="{FF2B5EF4-FFF2-40B4-BE49-F238E27FC236}">
                <a16:creationId xmlns:a16="http://schemas.microsoft.com/office/drawing/2014/main" id="{BB199B51-3DFF-3DF2-E402-55A5DA84946E}"/>
              </a:ext>
            </a:extLst>
          </p:cNvPr>
          <p:cNvSpPr/>
          <p:nvPr userDrawn="1"/>
        </p:nvSpPr>
        <p:spPr>
          <a:xfrm>
            <a:off x="7010400" y="0"/>
            <a:ext cx="5175265" cy="6859269"/>
          </a:xfrm>
          <a:custGeom>
            <a:avLst/>
            <a:gdLst>
              <a:gd name="connsiteX0" fmla="*/ 0 w 5175265"/>
              <a:gd name="connsiteY0" fmla="*/ 0 h 6859269"/>
              <a:gd name="connsiteX1" fmla="*/ 0 w 5175265"/>
              <a:gd name="connsiteY1" fmla="*/ 6407150 h 6859269"/>
              <a:gd name="connsiteX2" fmla="*/ 4494943 w 5175265"/>
              <a:gd name="connsiteY2" fmla="*/ 6407150 h 6859269"/>
              <a:gd name="connsiteX3" fmla="*/ 4505078 w 5175265"/>
              <a:gd name="connsiteY3" fmla="*/ 6417310 h 6859269"/>
              <a:gd name="connsiteX4" fmla="*/ 4494943 w 5175265"/>
              <a:gd name="connsiteY4" fmla="*/ 6427470 h 6859269"/>
              <a:gd name="connsiteX5" fmla="*/ 0 w 5175265"/>
              <a:gd name="connsiteY5" fmla="*/ 6427470 h 6859269"/>
              <a:gd name="connsiteX6" fmla="*/ 0 w 5175265"/>
              <a:gd name="connsiteY6" fmla="*/ 6859270 h 6859269"/>
              <a:gd name="connsiteX7" fmla="*/ 5175266 w 5175265"/>
              <a:gd name="connsiteY7" fmla="*/ 6859270 h 6859269"/>
              <a:gd name="connsiteX8" fmla="*/ 5175266 w 5175265"/>
              <a:gd name="connsiteY8" fmla="*/ 0 h 6859269"/>
              <a:gd name="connsiteX9" fmla="*/ 0 w 5175265"/>
              <a:gd name="connsiteY9" fmla="*/ 0 h 6859269"/>
              <a:gd name="connsiteX10" fmla="*/ 4491143 w 5175265"/>
              <a:gd name="connsiteY10" fmla="*/ 1362710 h 6859269"/>
              <a:gd name="connsiteX11" fmla="*/ 4364453 w 5175265"/>
              <a:gd name="connsiteY11" fmla="*/ 1362710 h 6859269"/>
              <a:gd name="connsiteX12" fmla="*/ 4364453 w 5175265"/>
              <a:gd name="connsiteY12" fmla="*/ 895350 h 6859269"/>
              <a:gd name="connsiteX13" fmla="*/ 3826023 w 5175265"/>
              <a:gd name="connsiteY13" fmla="*/ 1435100 h 6859269"/>
              <a:gd name="connsiteX14" fmla="*/ 3736073 w 5175265"/>
              <a:gd name="connsiteY14" fmla="*/ 1344930 h 6859269"/>
              <a:gd name="connsiteX15" fmla="*/ 4261835 w 5175265"/>
              <a:gd name="connsiteY15" fmla="*/ 817880 h 6859269"/>
              <a:gd name="connsiteX16" fmla="*/ 3807019 w 5175265"/>
              <a:gd name="connsiteY16" fmla="*/ 817880 h 6859269"/>
              <a:gd name="connsiteX17" fmla="*/ 3807019 w 5175265"/>
              <a:gd name="connsiteY17" fmla="*/ 690880 h 6859269"/>
              <a:gd name="connsiteX18" fmla="*/ 4364453 w 5175265"/>
              <a:gd name="connsiteY18" fmla="*/ 690880 h 6859269"/>
              <a:gd name="connsiteX19" fmla="*/ 4482274 w 5175265"/>
              <a:gd name="connsiteY19" fmla="*/ 690880 h 6859269"/>
              <a:gd name="connsiteX20" fmla="*/ 4491143 w 5175265"/>
              <a:gd name="connsiteY20" fmla="*/ 690880 h 6859269"/>
              <a:gd name="connsiteX21" fmla="*/ 4491143 w 5175265"/>
              <a:gd name="connsiteY21" fmla="*/ 1362710 h 6859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5265" h="6859269">
                <a:moveTo>
                  <a:pt x="0" y="0"/>
                </a:moveTo>
                <a:lnTo>
                  <a:pt x="0" y="6407150"/>
                </a:lnTo>
                <a:lnTo>
                  <a:pt x="4494943" y="6407150"/>
                </a:lnTo>
                <a:cubicBezTo>
                  <a:pt x="4500011" y="6407150"/>
                  <a:pt x="4505078" y="6410960"/>
                  <a:pt x="4505078" y="6417310"/>
                </a:cubicBezTo>
                <a:cubicBezTo>
                  <a:pt x="4505078" y="6423660"/>
                  <a:pt x="4501278" y="6427470"/>
                  <a:pt x="4494943" y="6427470"/>
                </a:cubicBezTo>
                <a:lnTo>
                  <a:pt x="0" y="6427470"/>
                </a:lnTo>
                <a:lnTo>
                  <a:pt x="0" y="6859270"/>
                </a:lnTo>
                <a:lnTo>
                  <a:pt x="5175266" y="6859270"/>
                </a:lnTo>
                <a:lnTo>
                  <a:pt x="5175266" y="0"/>
                </a:lnTo>
                <a:lnTo>
                  <a:pt x="0" y="0"/>
                </a:lnTo>
                <a:close/>
                <a:moveTo>
                  <a:pt x="4491143" y="1362710"/>
                </a:moveTo>
                <a:lnTo>
                  <a:pt x="4364453" y="1362710"/>
                </a:lnTo>
                <a:lnTo>
                  <a:pt x="4364453" y="895350"/>
                </a:lnTo>
                <a:lnTo>
                  <a:pt x="3826023" y="1435100"/>
                </a:lnTo>
                <a:lnTo>
                  <a:pt x="3736073" y="1344930"/>
                </a:lnTo>
                <a:lnTo>
                  <a:pt x="4261835" y="817880"/>
                </a:lnTo>
                <a:lnTo>
                  <a:pt x="3807019" y="817880"/>
                </a:lnTo>
                <a:lnTo>
                  <a:pt x="3807019" y="690880"/>
                </a:lnTo>
                <a:lnTo>
                  <a:pt x="4364453" y="690880"/>
                </a:lnTo>
                <a:lnTo>
                  <a:pt x="4482274" y="690880"/>
                </a:lnTo>
                <a:lnTo>
                  <a:pt x="4491143" y="690880"/>
                </a:lnTo>
                <a:lnTo>
                  <a:pt x="4491143" y="136271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9584266" cy="1387852"/>
          </a:xfrm>
        </p:spPr>
        <p:txBody>
          <a:bodyPr lIns="0" tIns="0" rIns="45720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F37D59-BF08-6CEE-197E-A579E4701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C225B1-A420-C658-9FD7-067B9FEFF7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77334" y="2552698"/>
            <a:ext cx="5964766" cy="3083217"/>
          </a:xfrm>
        </p:spPr>
        <p:txBody>
          <a:bodyPr lIns="91440">
            <a:noAutofit/>
          </a:bodyPr>
          <a:lstStyle>
            <a:lvl1pPr marL="457200" indent="-457200">
              <a:spcBef>
                <a:spcPts val="1600"/>
              </a:spcBef>
              <a:buSzPct val="100000"/>
              <a:buFont typeface="+mj-lt"/>
              <a:buAutoNum type="arabicPeriod"/>
              <a:defRPr sz="1800"/>
            </a:lvl1pPr>
            <a:lvl2pPr marL="800100" indent="-342900">
              <a:spcBef>
                <a:spcPts val="1600"/>
              </a:spcBef>
              <a:buSzPct val="100000"/>
              <a:buFont typeface="+mj-lt"/>
              <a:buAutoNum type="alphaLcPeriod"/>
              <a:defRPr sz="1600"/>
            </a:lvl2pPr>
            <a:lvl3pPr marL="1257300" indent="-342900">
              <a:spcBef>
                <a:spcPts val="1600"/>
              </a:spcBef>
              <a:buSzPct val="100000"/>
              <a:buFont typeface="+mj-lt"/>
              <a:buAutoNum type="arabicParenR"/>
              <a:defRPr sz="1400"/>
            </a:lvl3pPr>
            <a:lvl4pPr marL="1600200" indent="-228600">
              <a:spcBef>
                <a:spcPts val="1600"/>
              </a:spcBef>
              <a:buSzPct val="100000"/>
              <a:buFont typeface="+mj-lt"/>
              <a:buAutoNum type="alphaLcParenR"/>
              <a:defRPr sz="1200"/>
            </a:lvl4pPr>
            <a:lvl5pPr marL="2057400" indent="-228600">
              <a:spcBef>
                <a:spcPts val="1600"/>
              </a:spcBef>
              <a:buSzPct val="100000"/>
              <a:buFont typeface="+mj-lt"/>
              <a:buAutoNum type="romanLcPeriod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5F9D66-4BCE-5466-BE42-19F154C5BF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56513" y="2552699"/>
            <a:ext cx="3842913" cy="3083216"/>
          </a:xfrm>
        </p:spPr>
        <p:txBody>
          <a:bodyPr>
            <a:noAutofit/>
          </a:bodyPr>
          <a:lstStyle>
            <a:lvl1pPr marL="457200" indent="-457200">
              <a:lnSpc>
                <a:spcPts val="2400"/>
              </a:lnSpc>
              <a:spcBef>
                <a:spcPts val="2800"/>
              </a:spcBef>
              <a:defRPr sz="2400"/>
            </a:lvl1pPr>
            <a:lvl2pPr>
              <a:lnSpc>
                <a:spcPts val="2400"/>
              </a:lnSpc>
              <a:spcBef>
                <a:spcPts val="2800"/>
              </a:spcBef>
              <a:defRPr sz="2000"/>
            </a:lvl2pPr>
            <a:lvl3pPr>
              <a:lnSpc>
                <a:spcPts val="2400"/>
              </a:lnSpc>
              <a:spcBef>
                <a:spcPts val="2800"/>
              </a:spcBef>
              <a:defRPr sz="1800"/>
            </a:lvl3pPr>
            <a:lvl4pPr>
              <a:lnSpc>
                <a:spcPts val="2400"/>
              </a:lnSpc>
              <a:spcBef>
                <a:spcPts val="2800"/>
              </a:spcBef>
              <a:defRPr sz="1600"/>
            </a:lvl4pPr>
            <a:lvl5pPr>
              <a:lnSpc>
                <a:spcPts val="2400"/>
              </a:lnSpc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3DFC-848F-3CB1-23EC-9E1D65E487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99A12-3443-5523-F408-1CF310CF25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8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685799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57798"/>
            <a:ext cx="10820397" cy="911425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3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09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CBD89-63D9-CB44-E4AE-7915C4D785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4793-C529-931D-7D27-4D16610424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94946"/>
            <a:ext cx="3793387" cy="27340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1744" y="1926775"/>
            <a:ext cx="5862526" cy="42362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" y="5943600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0" tIns="0" rIns="0" bIns="0" rtlCol="0" anchor="ctr" anchorCtr="0"/>
          <a:lstStyle>
            <a:lvl1pPr algn="ct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71F1EA-20C8-8269-4328-9CFD833A93B4}"/>
              </a:ext>
            </a:extLst>
          </p:cNvPr>
          <p:cNvGrpSpPr/>
          <p:nvPr userDrawn="1"/>
        </p:nvGrpSpPr>
        <p:grpSpPr>
          <a:xfrm>
            <a:off x="10838266" y="752719"/>
            <a:ext cx="602728" cy="596004"/>
            <a:chOff x="11118823" y="513726"/>
            <a:chExt cx="602728" cy="59600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C92664-11DA-FCCE-2DBA-5940FD85729D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335C2E-70C2-3AA2-D2F6-9837BEB891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7E2B3B-D823-D184-ED44-A72BCBB8C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B05127-A3EE-BCA6-38E9-FEE0E6134EFE}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3862978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98D2-F38D-1ACF-2990-1F027337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107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4BCE-35F6-425E-BEE7-07902E8BBFFC}" type="datetimeFigureOut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E75F-DF1E-1625-34E8-3AEB1503F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69" r:id="rId3"/>
    <p:sldLayoutId id="2147483668" r:id="rId4"/>
    <p:sldLayoutId id="2147483689" r:id="rId5"/>
    <p:sldLayoutId id="2147483690" r:id="rId6"/>
    <p:sldLayoutId id="2147483691" r:id="rId7"/>
    <p:sldLayoutId id="2147483694" r:id="rId8"/>
    <p:sldLayoutId id="2147483695" r:id="rId9"/>
    <p:sldLayoutId id="2147483670" r:id="rId10"/>
    <p:sldLayoutId id="2147483696" r:id="rId11"/>
    <p:sldLayoutId id="2147483678" r:id="rId12"/>
    <p:sldLayoutId id="2147483677" r:id="rId13"/>
    <p:sldLayoutId id="2147483671" r:id="rId14"/>
  </p:sldLayoutIdLst>
  <p:hf sldNum="0" hdr="0" ftr="0" dt="0"/>
  <p:txStyles>
    <p:titleStyle>
      <a:lvl1pPr algn="l" defTabSz="457200" rtl="0" eaLnBrk="1" latinLnBrk="0" hangingPunct="1">
        <a:lnSpc>
          <a:spcPts val="4500"/>
        </a:lnSpc>
        <a:spcBef>
          <a:spcPct val="0"/>
        </a:spcBef>
        <a:buNone/>
        <a:defRPr sz="40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14DB-AE04-43EA-0022-86BA29BB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685799"/>
            <a:ext cx="10058397" cy="3601066"/>
          </a:xfrm>
        </p:spPr>
        <p:txBody>
          <a:bodyPr/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Using Pandas in Python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547C9-3C47-D876-FA70-6FF70A71A5DD}"/>
              </a:ext>
            </a:extLst>
          </p:cNvPr>
          <p:cNvSpPr txBox="1"/>
          <p:nvPr/>
        </p:nvSpPr>
        <p:spPr>
          <a:xfrm>
            <a:off x="609600" y="4503174"/>
            <a:ext cx="10746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DSA0405 - Fundamentals of data science - Technical presentation - Mythrea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(192424089)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97869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4"/>
            <a:ext cx="3789177" cy="4572000"/>
          </a:xfrm>
          <a:noFill/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77" y="332723"/>
            <a:ext cx="5260258" cy="5995909"/>
          </a:xfrm>
          <a:noFill/>
        </p:spPr>
        <p:txBody>
          <a:bodyPr>
            <a:normAutofit/>
          </a:bodyPr>
          <a:lstStyle/>
          <a:p>
            <a:pPr algn="just"/>
            <a:r>
              <a:rPr lang="en-IN" b="1" dirty="0"/>
              <a:t>What is Data Preprocessing</a:t>
            </a:r>
            <a:r>
              <a:rPr lang="en-IN" dirty="0"/>
              <a:t>?</a:t>
            </a:r>
          </a:p>
          <a:p>
            <a:pPr algn="just"/>
            <a:r>
              <a:rPr lang="en-IN" dirty="0"/>
              <a:t>Data preprocessing is the process of cleaning, organizing, and transforming raw data into a format suitable for analysis and machine learning.</a:t>
            </a:r>
          </a:p>
          <a:p>
            <a:pPr algn="just"/>
            <a:r>
              <a:rPr lang="en-IN" b="1" dirty="0"/>
              <a:t>Why is it Important?</a:t>
            </a:r>
          </a:p>
          <a:p>
            <a:pPr algn="just"/>
            <a:r>
              <a:rPr lang="en-IN" dirty="0"/>
              <a:t>Improves data quality</a:t>
            </a:r>
          </a:p>
          <a:p>
            <a:pPr algn="just"/>
            <a:r>
              <a:rPr lang="en-IN" dirty="0"/>
              <a:t>Removes inconsistencies</a:t>
            </a:r>
          </a:p>
          <a:p>
            <a:pPr algn="just"/>
            <a:r>
              <a:rPr lang="en-IN" dirty="0"/>
              <a:t>Handles missing values</a:t>
            </a:r>
          </a:p>
          <a:p>
            <a:pPr algn="just"/>
            <a:r>
              <a:rPr lang="en-IN" dirty="0"/>
              <a:t>Reduces errors</a:t>
            </a:r>
          </a:p>
          <a:p>
            <a:pPr algn="just"/>
            <a:r>
              <a:rPr lang="en-IN" dirty="0"/>
              <a:t>Improves model accuracy</a:t>
            </a:r>
          </a:p>
          <a:p>
            <a:pPr algn="just"/>
            <a:r>
              <a:rPr lang="en-IN" dirty="0"/>
              <a:t>Makes data easier to </a:t>
            </a:r>
            <a:r>
              <a:rPr lang="en-IN" dirty="0" err="1"/>
              <a:t>analyze</a:t>
            </a:r>
            <a:endParaRPr lang="en-IN" dirty="0"/>
          </a:p>
          <a:p>
            <a:pPr algn="just"/>
            <a:r>
              <a:rPr lang="en-IN" b="1" dirty="0"/>
              <a:t>Example</a:t>
            </a:r>
            <a:r>
              <a:rPr lang="en-IN" dirty="0"/>
              <a:t>:</a:t>
            </a:r>
          </a:p>
          <a:p>
            <a:pPr algn="just"/>
            <a:r>
              <a:rPr lang="en-IN" dirty="0"/>
              <a:t>A student database may contain missing marks, duplicate records, or incorrect names. Preprocessing fixes these issues before analysis.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3BB75-5B25-C530-4179-5B8CF5B22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76" y="1749453"/>
            <a:ext cx="3517491" cy="351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AF86FF-CB02-675F-64AB-ECCB58C1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4"/>
            <a:ext cx="3931919" cy="1989262"/>
          </a:xfrm>
        </p:spPr>
        <p:txBody>
          <a:bodyPr/>
          <a:lstStyle/>
          <a:p>
            <a:r>
              <a:rPr lang="en-IN" dirty="0"/>
              <a:t>Data Preprocessing Workflow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1336A-D65B-D2B1-839C-062AC3C4AC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7333" y="2831690"/>
            <a:ext cx="3931920" cy="3348335"/>
          </a:xfrm>
        </p:spPr>
        <p:txBody>
          <a:bodyPr>
            <a:normAutofit/>
          </a:bodyPr>
          <a:lstStyle/>
          <a:p>
            <a:r>
              <a:rPr lang="en-IN" dirty="0"/>
              <a:t>This workflow shows how raw data is converted into clean and useful data. The dataset is read using </a:t>
            </a:r>
            <a:r>
              <a:rPr lang="en-IN" b="1" dirty="0"/>
              <a:t>Pandas</a:t>
            </a:r>
            <a:r>
              <a:rPr lang="en-IN" dirty="0"/>
              <a:t>, processed through steps like filtering, sorting, grouping, and handling missing values, and then used for </a:t>
            </a:r>
            <a:r>
              <a:rPr lang="en-IN" b="1" dirty="0"/>
              <a:t>visualization</a:t>
            </a:r>
            <a:r>
              <a:rPr lang="en-IN" dirty="0"/>
              <a:t> or </a:t>
            </a:r>
            <a:r>
              <a:rPr lang="en-IN" b="1" dirty="0"/>
              <a:t>machine learning</a:t>
            </a:r>
            <a:r>
              <a:rPr lang="en-IN" dirty="0"/>
              <a:t> to generate meaningful insights.</a:t>
            </a:r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9C5681-436F-AB2B-BF66-4890748C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213" y="137652"/>
            <a:ext cx="6007510" cy="615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2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39E868-C38F-BE6F-C489-F81E4EA42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4"/>
            <a:ext cx="5880629" cy="868385"/>
          </a:xfrm>
        </p:spPr>
        <p:txBody>
          <a:bodyPr/>
          <a:lstStyle/>
          <a:p>
            <a:r>
              <a:rPr lang="en-IN" dirty="0"/>
              <a:t>Python Libraries Used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53888-D548-07B3-4DD3-A6B963163C0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7334" y="1681316"/>
            <a:ext cx="5880629" cy="4032871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NumPy</a:t>
            </a:r>
            <a:r>
              <a:rPr lang="en-IN" dirty="0"/>
              <a:t> – Provides fast numerical computations using multidimensional arrays and mathematical operations.</a:t>
            </a:r>
          </a:p>
          <a:p>
            <a:r>
              <a:rPr lang="en-IN" b="1" dirty="0"/>
              <a:t>Pandas</a:t>
            </a:r>
            <a:r>
              <a:rPr lang="en-IN" dirty="0"/>
              <a:t> – Used for data manipulation, including reading, cleaning, filtering, sorting, and grouping datasets.</a:t>
            </a:r>
          </a:p>
          <a:p>
            <a:r>
              <a:rPr lang="en-IN" b="1" dirty="0"/>
              <a:t>Matplotlib</a:t>
            </a:r>
            <a:r>
              <a:rPr lang="en-IN" dirty="0"/>
              <a:t> – Creates visual representations of data such as line graphs, bar charts, pie charts, histograms, and scatter plots.</a:t>
            </a:r>
          </a:p>
          <a:p>
            <a:r>
              <a:rPr lang="en-IN" b="1" dirty="0"/>
              <a:t>SciPy</a:t>
            </a:r>
            <a:r>
              <a:rPr lang="en-IN" dirty="0"/>
              <a:t> – Offers advanced scientific computing tools for optimization, integration, statistics, and linear algebra.</a:t>
            </a:r>
          </a:p>
          <a:p>
            <a:r>
              <a:rPr lang="en-IN" b="1" dirty="0"/>
              <a:t>Scikit-Learn</a:t>
            </a:r>
            <a:r>
              <a:rPr lang="en-IN" dirty="0"/>
              <a:t> – Provides machine learning algorithms for classification, regression, clustering, and model evaluation.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9E3B8-4840-7462-FE2C-8E76ACB9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0" y="1563329"/>
            <a:ext cx="3243416" cy="32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4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2A0C-ED2A-077C-70BC-DEB140E0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85" y="144338"/>
            <a:ext cx="3789177" cy="45720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Reading Data Using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C3B2-3EF0-BDB4-4819-4161FC7E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939" y="766916"/>
            <a:ext cx="4600267" cy="5476568"/>
          </a:xfrm>
        </p:spPr>
        <p:txBody>
          <a:bodyPr>
            <a:normAutofit/>
          </a:bodyPr>
          <a:lstStyle/>
          <a:p>
            <a:r>
              <a:rPr lang="en-IN" sz="2000" b="1" dirty="0"/>
              <a:t>Import the Pandas library</a:t>
            </a:r>
            <a:r>
              <a:rPr lang="en-IN" sz="2000" dirty="0"/>
              <a:t> using import pandas as pd. </a:t>
            </a:r>
          </a:p>
          <a:p>
            <a:r>
              <a:rPr lang="en-IN" sz="2000" b="1" dirty="0"/>
              <a:t>Load datasets</a:t>
            </a:r>
            <a:r>
              <a:rPr lang="en-IN" sz="2000" dirty="0"/>
              <a:t> from CSV, Excel, or other file formats using functions like </a:t>
            </a:r>
            <a:r>
              <a:rPr lang="en-IN" sz="2000" dirty="0" err="1"/>
              <a:t>pd.read_csv</a:t>
            </a:r>
            <a:r>
              <a:rPr lang="en-IN" sz="2000" dirty="0"/>
              <a:t>(). </a:t>
            </a:r>
          </a:p>
          <a:p>
            <a:r>
              <a:rPr lang="en-IN" sz="2000" b="1" dirty="0"/>
              <a:t>Display the first few records</a:t>
            </a:r>
            <a:r>
              <a:rPr lang="en-IN" sz="2000" dirty="0"/>
              <a:t> using head() to quickly inspect the dataset. </a:t>
            </a:r>
          </a:p>
          <a:p>
            <a:r>
              <a:rPr lang="en-IN" sz="2000" b="1" dirty="0"/>
              <a:t>View dataset information</a:t>
            </a:r>
            <a:r>
              <a:rPr lang="en-IN" sz="2000" dirty="0"/>
              <a:t> such as columns, data types, and missing values using info(). </a:t>
            </a:r>
          </a:p>
          <a:p>
            <a:r>
              <a:rPr lang="en-IN" sz="2000" b="1" dirty="0"/>
              <a:t>Generate statistical summaries</a:t>
            </a:r>
            <a:r>
              <a:rPr lang="en-IN" sz="2000" dirty="0"/>
              <a:t> like mean, count, and standard deviation using describe().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D6572-083A-F604-2578-17D5975B1D23}"/>
              </a:ext>
            </a:extLst>
          </p:cNvPr>
          <p:cNvSpPr txBox="1"/>
          <p:nvPr/>
        </p:nvSpPr>
        <p:spPr>
          <a:xfrm>
            <a:off x="431527" y="2133599"/>
            <a:ext cx="41011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slide explains how </a:t>
            </a:r>
            <a:r>
              <a:rPr lang="en-IN" b="1" dirty="0"/>
              <a:t>Pandas</a:t>
            </a:r>
            <a:r>
              <a:rPr lang="en-IN" dirty="0"/>
              <a:t> is used to import and examine datasets. It introduces the basic functions for loading data, viewing records, checking data types, and generating summary statistics before preprocessing begins.</a:t>
            </a:r>
          </a:p>
        </p:txBody>
      </p:sp>
    </p:spTree>
    <p:extLst>
      <p:ext uri="{BB962C8B-B14F-4D97-AF65-F5344CB8AC3E}">
        <p14:creationId xmlns:p14="http://schemas.microsoft.com/office/powerpoint/2010/main" val="351310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750B-D232-4688-407A-DAC2407E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86" y="528159"/>
            <a:ext cx="6195414" cy="1387852"/>
          </a:xfrm>
        </p:spPr>
        <p:txBody>
          <a:bodyPr/>
          <a:lstStyle/>
          <a:p>
            <a:r>
              <a:rPr lang="en-IN" dirty="0"/>
              <a:t>Selecting, Filtering &amp; Handling Missing Data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DA1357-F081-D7F6-4FB3-08E62F6C3A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8027" y="1916011"/>
            <a:ext cx="6195413" cy="3630134"/>
          </a:xfrm>
        </p:spPr>
        <p:txBody>
          <a:bodyPr/>
          <a:lstStyle/>
          <a:p>
            <a:r>
              <a:rPr lang="en-IN" b="1" dirty="0"/>
              <a:t>Select Data</a:t>
            </a:r>
            <a:r>
              <a:rPr lang="en-IN" dirty="0"/>
              <a:t> – Retrieve specific rows or columns from the dataset. </a:t>
            </a:r>
          </a:p>
          <a:p>
            <a:r>
              <a:rPr lang="en-IN" b="1" dirty="0"/>
              <a:t>Filter Data</a:t>
            </a:r>
            <a:r>
              <a:rPr lang="en-IN" dirty="0"/>
              <a:t> – Display records that satisfy a given condition. </a:t>
            </a:r>
          </a:p>
          <a:p>
            <a:r>
              <a:rPr lang="en-IN" b="1" dirty="0"/>
              <a:t>Identify Missing Values</a:t>
            </a:r>
            <a:r>
              <a:rPr lang="en-IN" dirty="0"/>
              <a:t> – Detect incomplete or null data using </a:t>
            </a:r>
            <a:r>
              <a:rPr lang="en-IN" dirty="0" err="1"/>
              <a:t>isnull</a:t>
            </a:r>
            <a:r>
              <a:rPr lang="en-IN" dirty="0"/>
              <a:t>(). </a:t>
            </a:r>
          </a:p>
          <a:p>
            <a:r>
              <a:rPr lang="en-IN" b="1" dirty="0"/>
              <a:t>Remove Missing Values</a:t>
            </a:r>
            <a:r>
              <a:rPr lang="en-IN" dirty="0"/>
              <a:t> – Delete incomplete records using </a:t>
            </a:r>
            <a:r>
              <a:rPr lang="en-IN" dirty="0" err="1"/>
              <a:t>dropna</a:t>
            </a:r>
            <a:r>
              <a:rPr lang="en-IN" dirty="0"/>
              <a:t>(). </a:t>
            </a:r>
          </a:p>
          <a:p>
            <a:r>
              <a:rPr lang="en-IN" b="1" dirty="0"/>
              <a:t>Fill Missing Values</a:t>
            </a:r>
            <a:r>
              <a:rPr lang="en-IN" dirty="0"/>
              <a:t> – Replace missing entries using </a:t>
            </a:r>
            <a:r>
              <a:rPr lang="en-IN" dirty="0" err="1"/>
              <a:t>fillna</a:t>
            </a:r>
            <a:r>
              <a:rPr lang="en-IN" dirty="0"/>
              <a:t>() with suitable values. </a:t>
            </a:r>
          </a:p>
          <a:p>
            <a:r>
              <a:rPr lang="en-IN" b="1" dirty="0"/>
              <a:t>Benefit</a:t>
            </a:r>
            <a:r>
              <a:rPr lang="en-IN" dirty="0"/>
              <a:t> – Improves data quality, consistency, and accuracy before analysis or machine learning.</a:t>
            </a:r>
            <a:endParaRPr lang="en-US" dirty="0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735FF7FE-86A0-34D0-5382-E2CB802957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40203" y="1995948"/>
            <a:ext cx="3866894" cy="441468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slide explains how Pandas is used to select relevant data, filter records, and handle missing values. These preprocessing techniques help create a clean and reliable dataset for further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33516D-AB15-124A-1833-DD5D9DE9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5"/>
            <a:ext cx="10058400" cy="1280160"/>
          </a:xfrm>
        </p:spPr>
        <p:txBody>
          <a:bodyPr/>
          <a:lstStyle/>
          <a:p>
            <a:r>
              <a:rPr lang="en-IN" dirty="0"/>
              <a:t>Data Organization &amp; Visualization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773C3-E729-93EA-2151-22EB12BF1B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740" y="1661652"/>
            <a:ext cx="10128743" cy="397396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Sorting</a:t>
            </a:r>
            <a:r>
              <a:rPr lang="en-IN" dirty="0"/>
              <a:t> – Arranges data in ascending or descending order for easier analysis. </a:t>
            </a:r>
          </a:p>
          <a:p>
            <a:r>
              <a:rPr lang="en-IN" b="1" dirty="0"/>
              <a:t>Grouping</a:t>
            </a:r>
            <a:r>
              <a:rPr lang="en-IN" dirty="0"/>
              <a:t> – Organizes similar records into categories using </a:t>
            </a:r>
            <a:r>
              <a:rPr lang="en-IN" dirty="0" err="1"/>
              <a:t>groupby</a:t>
            </a:r>
            <a:r>
              <a:rPr lang="en-IN" dirty="0"/>
              <a:t>(). </a:t>
            </a:r>
          </a:p>
          <a:p>
            <a:r>
              <a:rPr lang="en-IN" b="1" dirty="0"/>
              <a:t>Ranking</a:t>
            </a:r>
            <a:r>
              <a:rPr lang="en-IN" dirty="0"/>
              <a:t> – Assigns ranks to values based on performance or priority. </a:t>
            </a:r>
          </a:p>
          <a:p>
            <a:r>
              <a:rPr lang="en-IN" b="1" dirty="0"/>
              <a:t>Visualization</a:t>
            </a:r>
            <a:r>
              <a:rPr lang="en-IN" dirty="0"/>
              <a:t> – Converts processed data into graphical formats for better understanding. </a:t>
            </a:r>
          </a:p>
          <a:p>
            <a:r>
              <a:rPr lang="en-IN" b="1" dirty="0"/>
              <a:t>Common Charts</a:t>
            </a:r>
            <a:r>
              <a:rPr lang="en-IN" dirty="0"/>
              <a:t> – Includes line charts, bar charts, pie charts, histograms, and scatter plots. </a:t>
            </a:r>
          </a:p>
          <a:p>
            <a:r>
              <a:rPr lang="en-IN" b="1" dirty="0"/>
              <a:t>Outcome</a:t>
            </a:r>
            <a:r>
              <a:rPr lang="en-IN" dirty="0"/>
              <a:t> – Helps identify patterns, trends, and insights for informed decision-making.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9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spiral staircase">
            <a:extLst>
              <a:ext uri="{FF2B5EF4-FFF2-40B4-BE49-F238E27FC236}">
                <a16:creationId xmlns:a16="http://schemas.microsoft.com/office/drawing/2014/main" id="{8519191A-B0D9-CFD8-E089-8A6ECDC495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23" r="23"/>
          <a:stretch/>
        </p:blipFill>
        <p:spPr>
          <a:xfrm>
            <a:off x="3523091" y="3427812"/>
            <a:ext cx="5143494" cy="343018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7C4A00-6204-4111-3D1E-D4DFA3FA8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685798"/>
            <a:ext cx="10058400" cy="123149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6910B6-0F50-C7B8-4C28-B646D2B9FD38}"/>
              </a:ext>
            </a:extLst>
          </p:cNvPr>
          <p:cNvSpPr txBox="1"/>
          <p:nvPr/>
        </p:nvSpPr>
        <p:spPr>
          <a:xfrm>
            <a:off x="685799" y="1917290"/>
            <a:ext cx="10186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Data preprocessing</a:t>
            </a:r>
            <a:r>
              <a:rPr lang="en-IN" dirty="0"/>
              <a:t> is a crucial step in data science that transforms raw, unstructured data into a clean and usable format.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Pandas</a:t>
            </a:r>
            <a:r>
              <a:rPr lang="en-IN" dirty="0"/>
              <a:t> provides powerful tools for reading, selecting, filtering, sorting, grouping, ranking, and handling missing data efficiently.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Matplotlib</a:t>
            </a:r>
            <a:r>
              <a:rPr lang="en-IN" dirty="0"/>
              <a:t> enables the creation of meaningful charts and graphs, making complex datasets easier to understand and interpret.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Clean and well-organized data improves the accuracy, reliability, and performance of data analysis and machine learning models.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By combining preprocessing and visualization, organizations can discover valuable insights, make informed decisions, and build more effective data-driven solutions.</a:t>
            </a:r>
          </a:p>
        </p:txBody>
      </p:sp>
    </p:spTree>
    <p:extLst>
      <p:ext uri="{BB962C8B-B14F-4D97-AF65-F5344CB8AC3E}">
        <p14:creationId xmlns:p14="http://schemas.microsoft.com/office/powerpoint/2010/main" val="131413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4EB3-85F1-8A77-09E4-9D41686BD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799"/>
            <a:ext cx="10058400" cy="4572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71287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89119559_Win32_SL_v9" id="{F0446A71-0E2F-4374-B5F7-68CC97B41AC5}" vid="{5F7109B1-5E17-45DE-A450-61A147814B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E9A08A-3D48-4730-8B6D-01A15F4E9B0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60367E2-A4EF-4F83-9408-21F92ABD69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0F62E9-537D-4B86-A5A3-DCAED002D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Vert diagram presentation</Template>
  <TotalTime>43</TotalTime>
  <Words>680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Calibri</vt:lpstr>
      <vt:lpstr>Times New Roman</vt:lpstr>
      <vt:lpstr>Trebuchet MS</vt:lpstr>
      <vt:lpstr>Wingdings 3</vt:lpstr>
      <vt:lpstr>Facet</vt:lpstr>
      <vt:lpstr>Data Preprocessing Using Pandas in Python</vt:lpstr>
      <vt:lpstr>INTRODUCTION</vt:lpstr>
      <vt:lpstr>Data Preprocessing Workflow</vt:lpstr>
      <vt:lpstr>Python Libraries Used</vt:lpstr>
      <vt:lpstr> Reading Data Using Pandas</vt:lpstr>
      <vt:lpstr>Selecting, Filtering &amp; Handling Missing Data</vt:lpstr>
      <vt:lpstr>Data Organization &amp; Visualization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Mythrea Jayaprakash</dc:creator>
  <cp:lastModifiedBy>Mythrea Jayaprakash</cp:lastModifiedBy>
  <cp:revision>1</cp:revision>
  <dcterms:created xsi:type="dcterms:W3CDTF">2026-07-28T03:35:47Z</dcterms:created>
  <dcterms:modified xsi:type="dcterms:W3CDTF">2026-07-28T04:19:00Z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