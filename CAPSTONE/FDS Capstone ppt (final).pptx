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307" r:id="rId3"/>
    <p:sldId id="283" r:id="rId4"/>
    <p:sldId id="333" r:id="rId5"/>
    <p:sldId id="291" r:id="rId6"/>
    <p:sldId id="317" r:id="rId7"/>
    <p:sldId id="318" r:id="rId8"/>
    <p:sldId id="319" r:id="rId9"/>
    <p:sldId id="320" r:id="rId10"/>
    <p:sldId id="321" r:id="rId11"/>
    <p:sldId id="324" r:id="rId12"/>
    <p:sldId id="325" r:id="rId13"/>
    <p:sldId id="322" r:id="rId14"/>
    <p:sldId id="326" r:id="rId15"/>
    <p:sldId id="327" r:id="rId16"/>
    <p:sldId id="328" r:id="rId17"/>
    <p:sldId id="323" r:id="rId18"/>
    <p:sldId id="329" r:id="rId19"/>
    <p:sldId id="330" r:id="rId20"/>
    <p:sldId id="331" r:id="rId21"/>
    <p:sldId id="310" r:id="rId22"/>
    <p:sldId id="332" r:id="rId23"/>
    <p:sldId id="288" r:id="rId24"/>
    <p:sldId id="25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DA8C2B-9C19-4609-A286-6171D930E71B}" v="2" dt="2026-09-02T19:07:26.792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5" autoAdjust="0"/>
    <p:restoredTop sz="94689"/>
  </p:normalViewPr>
  <p:slideViewPr>
    <p:cSldViewPr snapToGrid="0">
      <p:cViewPr varScale="1">
        <p:scale>
          <a:sx n="78" d="100"/>
          <a:sy n="78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threa Jayaprakash" userId="dbd8593f528f52dd" providerId="LiveId" clId="{D323269E-C89E-43FF-9C55-C1FF222A9484}"/>
    <pc:docChg chg="modSld">
      <pc:chgData name="Mythrea Jayaprakash" userId="dbd8593f528f52dd" providerId="LiveId" clId="{D323269E-C89E-43FF-9C55-C1FF222A9484}" dt="2026-09-02T19:07:26.792" v="1" actId="767"/>
      <pc:docMkLst>
        <pc:docMk/>
      </pc:docMkLst>
      <pc:sldChg chg="addSp modSp">
        <pc:chgData name="Mythrea Jayaprakash" userId="dbd8593f528f52dd" providerId="LiveId" clId="{D323269E-C89E-43FF-9C55-C1FF222A9484}" dt="2026-09-02T19:07:26.792" v="1" actId="767"/>
        <pc:sldMkLst>
          <pc:docMk/>
          <pc:sldMk cId="0" sldId="259"/>
        </pc:sldMkLst>
        <pc:spChg chg="add mod">
          <ac:chgData name="Mythrea Jayaprakash" userId="dbd8593f528f52dd" providerId="LiveId" clId="{D323269E-C89E-43FF-9C55-C1FF222A9484}" dt="2026-09-02T19:07:26.792" v="1" actId="767"/>
          <ac:spMkLst>
            <pc:docMk/>
            <pc:sldMk cId="0" sldId="259"/>
            <ac:spMk id="6" creationId="{3DA1B128-1A7B-BC6F-BD4D-095D195D5A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cikit-learn.org/" TargetMode="External"/><Relationship Id="rId4" Type="http://schemas.openxmlformats.org/officeDocument/2006/relationships/hyperlink" Target="https://www.tableau.com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1005" y="4411575"/>
            <a:ext cx="4343399" cy="192616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lang="en-US" sz="20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lang="en-US" sz="20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</a:p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lang="en-US" sz="2000" b="1" spc="-25" dirty="0">
                <a:solidFill>
                  <a:schemeClr val="tx2"/>
                </a:solidFill>
                <a:latin typeface="Times New Roman"/>
                <a:cs typeface="Times New Roman"/>
              </a:rPr>
              <a:t>Jeya Harshini R (192424051)</a:t>
            </a:r>
          </a:p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lang="en-US" sz="2000" b="1" spc="-25" dirty="0">
                <a:solidFill>
                  <a:schemeClr val="tx2"/>
                </a:solidFill>
                <a:latin typeface="Times New Roman"/>
                <a:cs typeface="Times New Roman"/>
              </a:rPr>
              <a:t>Mythrea </a:t>
            </a:r>
            <a:r>
              <a:rPr lang="en-US" sz="2000" b="1" spc="-25" dirty="0" err="1">
                <a:solidFill>
                  <a:schemeClr val="tx2"/>
                </a:solidFill>
                <a:latin typeface="Times New Roman"/>
                <a:cs typeface="Times New Roman"/>
              </a:rPr>
              <a:t>shree</a:t>
            </a:r>
            <a:r>
              <a:rPr lang="en-US" sz="2000" b="1" spc="-25" dirty="0">
                <a:solidFill>
                  <a:schemeClr val="tx2"/>
                </a:solidFill>
                <a:latin typeface="Times New Roman"/>
                <a:cs typeface="Times New Roman"/>
              </a:rPr>
              <a:t> (192424089)</a:t>
            </a:r>
          </a:p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lang="en-US" sz="2000" b="1" spc="-25" dirty="0" err="1">
                <a:solidFill>
                  <a:schemeClr val="tx2"/>
                </a:solidFill>
                <a:latin typeface="Times New Roman"/>
                <a:cs typeface="Times New Roman"/>
              </a:rPr>
              <a:t>Selvamagal</a:t>
            </a:r>
            <a:r>
              <a:rPr lang="en-US" sz="2000" b="1" spc="-25" dirty="0">
                <a:solidFill>
                  <a:schemeClr val="tx2"/>
                </a:solidFill>
                <a:latin typeface="Times New Roman"/>
                <a:cs typeface="Times New Roman"/>
              </a:rPr>
              <a:t> M(192472013)</a:t>
            </a:r>
          </a:p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lang="en-US" sz="2000" b="1" spc="-25" dirty="0" err="1">
                <a:solidFill>
                  <a:schemeClr val="tx2"/>
                </a:solidFill>
                <a:latin typeface="Times New Roman"/>
                <a:cs typeface="Times New Roman"/>
              </a:rPr>
              <a:t>Loshane</a:t>
            </a:r>
            <a:r>
              <a:rPr lang="en-US" sz="2000" b="1" spc="-25" dirty="0">
                <a:solidFill>
                  <a:schemeClr val="tx2"/>
                </a:solidFill>
                <a:latin typeface="Times New Roman"/>
                <a:cs typeface="Times New Roman"/>
              </a:rPr>
              <a:t> (192424402)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061" y="47473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278194" y="2119772"/>
            <a:ext cx="10264878" cy="1120178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sz="32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SmartRetail</a:t>
            </a: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Data-Driven Decision Support System for Sustainable Retail Operations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760615" y="4425520"/>
            <a:ext cx="38201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lang="en-US" sz="20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0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</a:p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lang="en-US" sz="2000" b="1" spc="-25" dirty="0">
                <a:solidFill>
                  <a:schemeClr val="tx2"/>
                </a:solidFill>
                <a:latin typeface="Times New Roman"/>
                <a:cs typeface="Times New Roman"/>
              </a:rPr>
              <a:t>Dr. </a:t>
            </a:r>
            <a:r>
              <a:rPr lang="en-US" sz="2000" b="1" spc="-25" dirty="0" err="1">
                <a:solidFill>
                  <a:schemeClr val="tx2"/>
                </a:solidFill>
                <a:latin typeface="Times New Roman"/>
                <a:cs typeface="Times New Roman"/>
              </a:rPr>
              <a:t>Krishnaraj</a:t>
            </a:r>
            <a:r>
              <a:rPr lang="en-US" sz="2000" b="1" spc="-2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 err="1">
                <a:solidFill>
                  <a:schemeClr val="tx2"/>
                </a:solidFill>
                <a:latin typeface="Times New Roman"/>
                <a:cs typeface="Times New Roman"/>
              </a:rPr>
              <a:t>Mony</a:t>
            </a:r>
            <a:endParaRPr lang="en-US" sz="2000" b="1" spc="-25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lang="en-US" sz="2000" b="1" spc="-25" dirty="0">
                <a:solidFill>
                  <a:schemeClr val="tx2"/>
                </a:solidFill>
                <a:latin typeface="Times New Roman"/>
                <a:cs typeface="Times New Roman"/>
              </a:rPr>
              <a:t>Associate Professor/CSE</a:t>
            </a:r>
            <a:endParaRPr lang="en-US" sz="2000" b="1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573493" y="3356441"/>
            <a:ext cx="7045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DSA0405 – Fundamentals of Data Science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570" y="1718528"/>
            <a:ext cx="67207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businesses generate large volumes of transactional data through sales, customer purchases, inventory management, and supply chain operations.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data enables organizations to identify business trends, improve operational efficiency, and support informed decision-making.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analytics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understand customer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optimize inventory levels, improve pricing strategies, and enhance overall business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SmartRetail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proposed as a data-driven decision support system that integrates data preprocessing, business intelligence, predictive analytics, and sustainable recommendations to improve retail operations.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987BA6-634A-87DD-846E-AC97B6CF2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697" y="1797188"/>
            <a:ext cx="4085733" cy="359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0" y="53992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201475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74BF758-6663-5913-D4E6-87DBD780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90" y="1950038"/>
            <a:ext cx="10713621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retail businesses rely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reporting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provide only historical sales data without advanced analytical capabilities.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data is often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or using basic spreadsheet tools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process time-consuming and prone to human errors.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have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ability to identify hidden patterns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customer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relationships between sales, profit, and discounts.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retail management lacks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forecast future sales, demand, and business performance.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current solutions do not provide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recommendations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inventory optimization, pricing strategies, or sustainable retail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F38E9-E12D-1C45-1C4C-E0BC657F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62BE83-A5AD-4F23-E154-B3F073830E63}"/>
              </a:ext>
            </a:extLst>
          </p:cNvPr>
          <p:cNvSpPr txBox="1"/>
          <p:nvPr/>
        </p:nvSpPr>
        <p:spPr>
          <a:xfrm>
            <a:off x="0" y="53992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LITERARY REVIEW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544A097-37CA-C90A-A8F6-7DDD29CDA7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7FA4F54-95FB-E84E-5530-FFEAE3BAE8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201475"/>
            <a:ext cx="1520062" cy="134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FD4364-565A-5BC7-4379-D395BBD5F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816" y="1247811"/>
            <a:ext cx="7906365" cy="527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15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0" y="515389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144" y="1685520"/>
            <a:ext cx="679934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data-driven decision support system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retail sales, customer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business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clean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retail transaction data by handling missing values, duplicates, outliers, and data inconsistencies.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exploratory data analysis (EDA) to identify sales trends, customer segments, product performance, and regional insights.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predictive models for forecasting retail performance and supporting data-driven business decisions.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sustainable business recommendations for inventory optimization, pricing strategies, and efficient resource utilization in alignment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 (Responsible Consumption and Production)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30CBEA-3308-CEEA-964F-9342367C7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490" y="1858286"/>
            <a:ext cx="3787468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8048-2344-0733-BC1D-2F3CF7285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664" y="200309"/>
            <a:ext cx="845574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DB7AD62A-1C7C-F3BB-8091-C5A735BE4F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527" y="182975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D514E6B0-E945-6B18-B250-BD439C4334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2922" y="200309"/>
            <a:ext cx="1520062" cy="13428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8AE52A-31A0-A327-B617-5700A1DA1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510" y="1179871"/>
            <a:ext cx="9320980" cy="536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44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A15C-09A2-ACA4-8EA8-C90868DA7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30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C9426A2B-70BE-1737-C86E-4E67027071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869C0C3D-0E7F-66F9-4973-AB2B6BD44C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EDBB3C-A986-1244-1161-B4F73020E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39" y="1534540"/>
            <a:ext cx="11015822" cy="495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15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768241-C3AE-F5E9-A8BF-770F8B6A2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48" y="208782"/>
            <a:ext cx="7416287" cy="3065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068F89-400A-5FE9-A506-DA4D34090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671" y="3429000"/>
            <a:ext cx="7513614" cy="32202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55F46C-D5BA-BEE7-9C4D-4661045ABCF8}"/>
              </a:ext>
            </a:extLst>
          </p:cNvPr>
          <p:cNvSpPr txBox="1"/>
          <p:nvPr/>
        </p:nvSpPr>
        <p:spPr>
          <a:xfrm>
            <a:off x="7914968" y="618077"/>
            <a:ext cx="39132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Upload: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Upload the retail sales dataset in CSV format.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Prediction: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the trained ML model to predict profit accurately.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B1D720-0F59-573A-9F6C-82B60510CC13}"/>
              </a:ext>
            </a:extLst>
          </p:cNvPr>
          <p:cNvSpPr txBox="1"/>
          <p:nvPr/>
        </p:nvSpPr>
        <p:spPr>
          <a:xfrm>
            <a:off x="391907" y="3824748"/>
            <a:ext cx="35002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Selection: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Choose the required retail dataset from your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Upload: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Upload the selected CSV file to begin profit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130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E1E59B-E2F4-AC3C-4D7A-7C946A161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323" y="766762"/>
            <a:ext cx="6157452" cy="5324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D7ABE3-43EC-3973-9880-298B92C279EA}"/>
              </a:ext>
            </a:extLst>
          </p:cNvPr>
          <p:cNvSpPr txBox="1"/>
          <p:nvPr/>
        </p:nvSpPr>
        <p:spPr>
          <a:xfrm>
            <a:off x="737419" y="1012723"/>
            <a:ext cx="368709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new features to improve model performance.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Features: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year, month, and quarter from order dates.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the number of shipping days.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the profit margin for better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31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3AE9-FA8E-C21E-ABDB-09B4070D6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97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23FBA-73E4-DF7D-2A29-3D0BA1A27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3310" cy="4351338"/>
          </a:xfrm>
        </p:spPr>
        <p:txBody>
          <a:bodyPr>
            <a:normAutofit/>
          </a:bodyPr>
          <a:lstStyle/>
          <a:p>
            <a:pPr lvl="0"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applies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retail data to uncover patterns, predict outcomes, and support data-driven decisions. </a:t>
            </a:r>
          </a:p>
          <a:p>
            <a:pPr lvl="0"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is developed to predict financial metrics such as sales and profit using historical data. </a:t>
            </a:r>
          </a:p>
          <a:p>
            <a:pPr lvl="0"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evaluated using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Score, Mean Absolute Error (MAE), and Root Mean Square Error (RMSE)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accuracy and reliability. </a:t>
            </a:r>
          </a:p>
          <a:p>
            <a:pPr lvl="0"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is performed to measure the error rate and variance, helping to understand model effectiveness. </a:t>
            </a:r>
          </a:p>
          <a:p>
            <a:pPr lvl="0" algn="just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translates analytical insights into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intelligence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the system to forecast performance and support strategic planning. </a:t>
            </a:r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34231E19-BC0D-0794-5486-D283101864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42214D6F-17E5-F665-1AE6-EA34131D8F0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CCB075-F3D6-064A-DD5A-053E49EE0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510" y="2076812"/>
            <a:ext cx="3977985" cy="29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72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5383D8-E14D-B965-D679-3DCACA335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1" y="338566"/>
            <a:ext cx="6936811" cy="3918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3E2053-56CA-9BC7-F928-E82769D5D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448" y="338566"/>
            <a:ext cx="4256920" cy="59442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A43DA7-E2FF-19C3-5032-812482138BC1}"/>
              </a:ext>
            </a:extLst>
          </p:cNvPr>
          <p:cNvSpPr txBox="1"/>
          <p:nvPr/>
        </p:nvSpPr>
        <p:spPr>
          <a:xfrm>
            <a:off x="481780" y="4454014"/>
            <a:ext cx="69368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Prediction &amp; Comparison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actual profit with the machine learning model’s predicted profit using category-wise visualizations and performance metrics.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SmartRetail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Assistant: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interactive insights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sales, inventory, profit, product performance, and sustainability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natural-language queries.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814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D1DABD-85F0-C434-345A-9093E169F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1" y="205995"/>
            <a:ext cx="6213988" cy="3529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B17133-854F-BF4F-A6F4-D5468D718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084" y="205995"/>
            <a:ext cx="4896465" cy="64012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9A6D3-FE01-3321-3356-9B82213CA28A}"/>
              </a:ext>
            </a:extLst>
          </p:cNvPr>
          <p:cNvSpPr txBox="1"/>
          <p:nvPr/>
        </p:nvSpPr>
        <p:spPr>
          <a:xfrm>
            <a:off x="442451" y="3991896"/>
            <a:ext cx="62139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Linear Regression model and evaluates its performance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Score, MAE, and RMSE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selected retail features.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&amp; Chart Generation: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the difference between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and predicted profit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determines the error percentage, and generates charts to visually compare model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111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70F4A-D5CF-5572-923C-232174B5C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97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342AA94C-3133-EA3F-E53D-085A98FB88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87FF2A7D-D48D-4488-6A9F-6188DEF24C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377F76-C3B3-7B5B-CAD0-78F329678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56403"/>
            <a:ext cx="10515600" cy="490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47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2C5547-71E2-87F0-DCBA-76A38007F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200537"/>
            <a:ext cx="6794090" cy="4056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791821-5770-2078-EDEC-1268E25E8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367" y="200538"/>
            <a:ext cx="4650659" cy="40568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58ABF7-1DFA-2DB7-F630-77477EE7AF62}"/>
              </a:ext>
            </a:extLst>
          </p:cNvPr>
          <p:cNvSpPr txBox="1"/>
          <p:nvPr/>
        </p:nvSpPr>
        <p:spPr>
          <a:xfrm>
            <a:off x="491613" y="4572000"/>
            <a:ext cx="112087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Image: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main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Analytics 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key metrics such as total sales, total profit, quantity sold, profit margin, average sales, and discount.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Image: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detailed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profit visualizations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category-wise comparisons and performance trends over time to identify business patterns.</a:t>
            </a:r>
          </a:p>
        </p:txBody>
      </p:sp>
    </p:spTree>
    <p:extLst>
      <p:ext uri="{BB962C8B-B14F-4D97-AF65-F5344CB8AC3E}">
        <p14:creationId xmlns:p14="http://schemas.microsoft.com/office/powerpoint/2010/main" val="1324283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918EA3-B461-CF39-D7B9-1388285B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3" y="237173"/>
            <a:ext cx="7081418" cy="3086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E453CF-9E1C-ABA0-CA44-6075F3742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111" y="3404953"/>
            <a:ext cx="7081418" cy="32158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766BFB-071A-EE07-A356-638DDE488595}"/>
              </a:ext>
            </a:extLst>
          </p:cNvPr>
          <p:cNvSpPr txBox="1"/>
          <p:nvPr/>
        </p:nvSpPr>
        <p:spPr>
          <a:xfrm>
            <a:off x="7443019" y="727587"/>
            <a:ext cx="43163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Image: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 table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comparing products based on sales, profit, and quantity sold to identify the best-performing products.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E6BFB-3882-03C8-3C3F-679BF960D0BC}"/>
              </a:ext>
            </a:extLst>
          </p:cNvPr>
          <p:cNvSpPr txBox="1"/>
          <p:nvPr/>
        </p:nvSpPr>
        <p:spPr>
          <a:xfrm>
            <a:off x="265471" y="4050891"/>
            <a:ext cx="41983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Image: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SDG indicators, inventory health, and stock levels to support responsible and efficient retail management.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84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DAB00E-AE02-5CB0-F8BD-F1A9A370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17" y="609600"/>
            <a:ext cx="3960578" cy="5542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DD1699-CE29-DAF0-2FE8-2F4F81F17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981" y="609600"/>
            <a:ext cx="3490209" cy="5542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BC67FB-2FC3-E5E6-7BE0-68D186C1E3BE}"/>
              </a:ext>
            </a:extLst>
          </p:cNvPr>
          <p:cNvSpPr txBox="1"/>
          <p:nvPr/>
        </p:nvSpPr>
        <p:spPr>
          <a:xfrm>
            <a:off x="8131276" y="609600"/>
            <a:ext cx="349020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1: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Analytics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business insights by identifying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highest-sales category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its sales value.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Analytics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highest-profit category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product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sales.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2: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key inventory metrics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products, low-stock items, and critical stock alerts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product categories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provides data for monitoring inventory health and sustainability.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727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AFDA-1867-0C44-3794-B20F9C63C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758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9EDA4D1-D3CA-28B4-4222-80A901D0E7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75911439-8CB2-61DF-CB9F-F92EEB95887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5C1061-A517-F7E7-ABEE-DE0A2261E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534540"/>
            <a:ext cx="10515599" cy="510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17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8EB06E-DD3C-091A-F5DD-6A3C69D4C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244022"/>
            <a:ext cx="6744929" cy="3295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B678DD-F97F-6141-135D-6DC8E2292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071" y="3045865"/>
            <a:ext cx="6479458" cy="35681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FCA8FC-0C75-42E6-EEE4-C881023456B4}"/>
              </a:ext>
            </a:extLst>
          </p:cNvPr>
          <p:cNvSpPr txBox="1"/>
          <p:nvPr/>
        </p:nvSpPr>
        <p:spPr>
          <a:xfrm>
            <a:off x="7069394" y="917827"/>
            <a:ext cx="46309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key business metrics such as total sales, profit, records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model accuracy, and inventory status in one place.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AE30E-CCC0-F269-5790-CDAA4FDFEA0F}"/>
              </a:ext>
            </a:extLst>
          </p:cNvPr>
          <p:cNvSpPr txBox="1"/>
          <p:nvPr/>
        </p:nvSpPr>
        <p:spPr>
          <a:xfrm>
            <a:off x="462116" y="3962400"/>
            <a:ext cx="45031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Analytics: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detailed visual insights into business performance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trends, category-wise sales, category distribution, and sales distribution charts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users identify patterns and make data-driven decisions.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979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9DD971-8C9E-8FEC-7E77-DE236270E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03" y="268236"/>
            <a:ext cx="6441358" cy="3160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792570-1B5C-14ED-521A-FBBCB9DE1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640" y="3510116"/>
            <a:ext cx="7079226" cy="30796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C1C7E4-B0EF-53BD-EFAE-12F7DA513BDE}"/>
              </a:ext>
            </a:extLst>
          </p:cNvPr>
          <p:cNvSpPr txBox="1"/>
          <p:nvPr/>
        </p:nvSpPr>
        <p:spPr>
          <a:xfrm>
            <a:off x="7020232" y="879122"/>
            <a:ext cx="46211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Product: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the user to enter product details such as ID, name, category, supplier, stock, reorder level, and unit price to update the inventory.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0D351-2FD9-6BB4-325F-B08491F93521}"/>
              </a:ext>
            </a:extLst>
          </p:cNvPr>
          <p:cNvSpPr txBox="1"/>
          <p:nvPr/>
        </p:nvSpPr>
        <p:spPr>
          <a:xfrm>
            <a:off x="452283" y="4035219"/>
            <a:ext cx="40115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inventory status and category distribution through charts, helping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healthy, low-stock, and critical products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understand category-wise stock levels.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47947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901D02-7170-3A7C-99CC-25E27164F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55" y="235974"/>
            <a:ext cx="7729673" cy="3756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D9B58E-CA5E-ACBE-B69F-23F0BF8CE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237" y="235974"/>
            <a:ext cx="3314700" cy="6312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3264B1-15B5-53E5-06A2-2EEC7400DC13}"/>
              </a:ext>
            </a:extLst>
          </p:cNvPr>
          <p:cNvSpPr txBox="1"/>
          <p:nvPr/>
        </p:nvSpPr>
        <p:spPr>
          <a:xfrm>
            <a:off x="234455" y="4149212"/>
            <a:ext cx="79797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Alerts: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products that are at or below their reorder level and displays key details such as stock, supplier, price, and last update for quick action.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Data Management: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Loads the inventory CSV file using Python and validates required fields such as product ID, category, stock, reorder level, price, and supplier for reliable data handling.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885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953729" y="1823618"/>
            <a:ext cx="10107561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SmartRetail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proposes a comprehensive data-driven framework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improving retail business operations.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exploratory analysis, predictive analytics, and intelligent recommendations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decision support platform.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retail businesses to make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 efficient, and data-driven decisions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operational performance.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supports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retail practices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optimizing inventory, pricing strategies, and resource utilization.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expected to enhance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intelligence, profitability, and long-term sustainability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contributing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12: Responsible Consumption and Production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4354975" y="388129"/>
            <a:ext cx="6094070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67A9AEBC-AEA4-B8CC-3337-362C2D9C4E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9C47000D-3BE8-9639-744D-5805FA86845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42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83202-2B77-4DB6-EC1A-1FD56A97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47DD92-E28C-312F-E396-1A32B20880CF}"/>
              </a:ext>
            </a:extLst>
          </p:cNvPr>
          <p:cNvSpPr txBox="1"/>
          <p:nvPr/>
        </p:nvSpPr>
        <p:spPr>
          <a:xfrm>
            <a:off x="924967" y="1809684"/>
            <a:ext cx="10107561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Sales Forecasting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Integrate advanced forecasting models to predict future sales, demand, and profit trends.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Deployment 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SmartRetail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cloud platforms to enable secure access, centralized data storage, and scalability.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 for owners and inventory managers to monitor sales, stock levels, alerts, and predictions on the go.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Recommendations 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the AI assistant to provide personalized pricing, promotion, inventory, and product recommendations using real-time business data.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Inventory Monitoring 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IoT sensors and automated tracking systems for real-time stock monitoring and automatic reorder alerts.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AD381-9AA5-4222-AFA1-EF81C1CC5105}"/>
              </a:ext>
            </a:extLst>
          </p:cNvPr>
          <p:cNvSpPr txBox="1"/>
          <p:nvPr/>
        </p:nvSpPr>
        <p:spPr>
          <a:xfrm>
            <a:off x="4354975" y="388129"/>
            <a:ext cx="6094070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UTURE SCOPE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ACB2CB1F-756B-71E3-960C-DFB688D1C7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1D5354CF-7FAA-6610-2A3F-AFB3CB15E5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36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FDA1-45B4-C727-6F2B-5AC15CCC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4A55326D-569C-9DDD-0204-61E73EEFAC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F2C6699-20DF-DAFE-4B4A-2035CB1BD9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D8D035-8B7A-F12E-7AB5-9EC906849E4B}"/>
              </a:ext>
            </a:extLst>
          </p:cNvPr>
          <p:cNvSpPr txBox="1"/>
          <p:nvPr/>
        </p:nvSpPr>
        <p:spPr>
          <a:xfrm>
            <a:off x="-279842" y="53992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REFERNCES</a:t>
            </a:r>
            <a:endParaRPr lang="en-US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7D85B-8A76-CBA3-7DCA-0D57390194D2}"/>
              </a:ext>
            </a:extLst>
          </p:cNvPr>
          <p:cNvSpPr txBox="1"/>
          <p:nvPr/>
        </p:nvSpPr>
        <p:spPr>
          <a:xfrm>
            <a:off x="845574" y="1882822"/>
            <a:ext cx="10559846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W. McKinney,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Data Analysis: Data Wrangling with Pandas, NumPy, and Jupyter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ed. Sebastopol, CA, USA: O'Reilly Media, 2022.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Géron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Machine Learning with Scikit-Learn,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TensorFlow: Concepts, Tools, and Techniques to Build Intelligent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ed. Sebastopol, CA, USA: O'Reilly Media, 2022.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Han, M. Kamber, and J. Pei,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Mining: Concepts and Techniques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ed. Burlington, MA, USA: Morgan Kaufmann, 2012.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Tableau Software, "Sample Superstore Dataset," Tableau. [Online].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https://www.tableau.com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[Accessed: Jul. 25, 2026].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Scikit-learn Developers, "Scikit-learn: Machine Learning in Python,"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[Online]. Available: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https://scikit-learn.org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[Accessed: Jul. 25, 2026].</a:t>
            </a:r>
          </a:p>
        </p:txBody>
      </p:sp>
    </p:spTree>
    <p:extLst>
      <p:ext uri="{BB962C8B-B14F-4D97-AF65-F5344CB8AC3E}">
        <p14:creationId xmlns:p14="http://schemas.microsoft.com/office/powerpoint/2010/main" val="19638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231897" y="2382625"/>
            <a:ext cx="772820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1458</Words>
  <Application>Microsoft Office PowerPoint</Application>
  <PresentationFormat>Widescreen</PresentationFormat>
  <Paragraphs>109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Times New Roman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SYSTEM ARCHITECTURE</vt:lpstr>
      <vt:lpstr>MODULE 1</vt:lpstr>
      <vt:lpstr>PowerPoint Presentation</vt:lpstr>
      <vt:lpstr>PowerPoint Presentation</vt:lpstr>
      <vt:lpstr>MODULE 2</vt:lpstr>
      <vt:lpstr>PowerPoint Presentation</vt:lpstr>
      <vt:lpstr>PowerPoint Presentation</vt:lpstr>
      <vt:lpstr>MODULE 3</vt:lpstr>
      <vt:lpstr>PowerPoint Presentation</vt:lpstr>
      <vt:lpstr>PowerPoint Presentation</vt:lpstr>
      <vt:lpstr>PowerPoint Presentation</vt:lpstr>
      <vt:lpstr>MODULE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Mythrea Jayaprakash</cp:lastModifiedBy>
  <cp:revision>12</cp:revision>
  <dcterms:created xsi:type="dcterms:W3CDTF">2026-05-12T03:48:28Z</dcterms:created>
  <dcterms:modified xsi:type="dcterms:W3CDTF">2026-09-02T19:07:36Z</dcterms:modified>
</cp:coreProperties>
</file>